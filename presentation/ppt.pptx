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4BB42D-FEF7-4D36-B3EB-F2AEE43EDC95}">
  <a:tblStyle styleId="{0C4BB42D-FEF7-4D36-B3EB-F2AEE43EDC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09f290cbeb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409f290cbeb_4_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09f290cbeb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409f290cbeb_4_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f290cbeb_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409f290cbeb_4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09f290cbeb_4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409f290cbeb_4_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09f290cbeb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409f290cbeb_4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290cbeb_4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409f290cbeb_4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f290cbeb_4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409f290cbeb_4_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09f290cbeb_4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409f290cbeb_4_1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09f290cbeb_4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409f290cbeb_4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09f290cbeb_4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409f290cbeb_4_1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4325" y="1096962"/>
            <a:ext cx="8515350" cy="1896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46472" y="967978"/>
            <a:ext cx="3643313" cy="3521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0D1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4325" y="1096962"/>
            <a:ext cx="8515350" cy="1896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[SYS.GW.01]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descr="$PPTXTitle" id="90" name="Google Shape;90;p19"/>
          <p:cNvSpPr txBox="1"/>
          <p:nvPr>
            <p:ph type="title"/>
          </p:nvPr>
        </p:nvSpPr>
        <p:spPr>
          <a:xfrm>
            <a:off x="333375" y="1137979"/>
            <a:ext cx="6014561" cy="1759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08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LM Gateway </a:t>
            </a:r>
            <a:r>
              <a:rPr lang="en" sz="2200"/>
              <a:t>— </a:t>
            </a:r>
            <a:r>
              <a:rPr lang="en" sz="4000"/>
              <a:t>One API</a:t>
            </a:r>
            <a:r>
              <a:rPr lang="en" sz="2200"/>
              <a:t>, </a:t>
            </a:r>
            <a:r>
              <a:rPr lang="en" sz="4000"/>
              <a:t>Every Provider</a:t>
            </a:r>
            <a:r>
              <a:rPr lang="en" sz="2200"/>
              <a:t>, </a:t>
            </a:r>
            <a:r>
              <a:rPr lang="en" sz="4000"/>
              <a:t>No Downtime Lost</a:t>
            </a:r>
            <a:endParaRPr sz="4000"/>
          </a:p>
        </p:txBody>
      </p:sp>
      <p:sp>
        <p:nvSpPr>
          <p:cNvPr id="91" name="Google Shape;91;p19"/>
          <p:cNvSpPr/>
          <p:nvPr/>
        </p:nvSpPr>
        <p:spPr>
          <a:xfrm>
            <a:off x="342900" y="3050381"/>
            <a:ext cx="857250" cy="28575"/>
          </a:xfrm>
          <a:custGeom>
            <a:rect b="b" l="l" r="r" t="t"/>
            <a:pathLst>
              <a:path extrusionOk="0" h="38100" w="1143000">
                <a:moveTo>
                  <a:pt x="1143000" y="0"/>
                </a:moveTo>
                <a:lnTo>
                  <a:pt x="0" y="0"/>
                </a:lnTo>
                <a:lnTo>
                  <a:pt x="0" y="38100"/>
                </a:lnTo>
                <a:lnTo>
                  <a:pt x="1143000" y="38100"/>
                </a:lnTo>
                <a:lnTo>
                  <a:pt x="114300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2" name="Google Shape;92;p19"/>
          <p:cNvSpPr txBox="1"/>
          <p:nvPr/>
        </p:nvSpPr>
        <p:spPr>
          <a:xfrm>
            <a:off x="333375" y="3260884"/>
            <a:ext cx="572261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A self-hosted, message-queue-based gateway for resilient, provider-agnostic LLM infrastructure.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333375" y="4655344"/>
            <a:ext cx="150780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v1.0.0  PRODUCTION READY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8677280" y="4655344"/>
            <a:ext cx="13620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9" name="Google Shape;99;p20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integration tax compounds</a:t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[SYS.GW.02]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346472" y="967978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FRAGMENTED PROTOCOLS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622300" rtl="0" algn="l">
              <a:lnSpc>
                <a:spcPct val="1394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Every provider speaks a different language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OpenRouter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Ollama 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each requires its own request format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auth scheme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and error handling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661297" y="967978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RATE LIMIT FAILURES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317500" rtl="0" algn="l">
              <a:lnSpc>
                <a:spcPct val="1394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tier and production rate limits cause failed requests mid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There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s no built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in strategy to route around them or retry gracefully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46472" y="2818209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DOWNTIME = LOST WORK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When a provider goes down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requests vanish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There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s no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persistence layer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no retry queue 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just silent failure and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lost progress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4661297" y="2818209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REPEATED INTEGRATION EFFORT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The same adapter logic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retry code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and error handling gets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rebuilt in every project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Teams never stop paying this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integration tax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8677275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0" name="Google Shape;110;p21"/>
          <p:cNvSpPr txBox="1"/>
          <p:nvPr>
            <p:ph type="title"/>
          </p:nvPr>
        </p:nvSpPr>
        <p:spPr>
          <a:xfrm>
            <a:off x="333375" y="328233"/>
            <a:ext cx="1502092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gateway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1797844" y="328233"/>
            <a:ext cx="3430905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lang="en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Every provider</a:t>
            </a:r>
            <a:r>
              <a:rPr lang="en" sz="3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lang="en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Zero rebuilds</a:t>
            </a:r>
            <a:r>
              <a:rPr lang="en" sz="3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[SYS.GW.03]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333375" y="1240631"/>
            <a:ext cx="4011930" cy="8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One Canonical API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298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Clients call a single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stable endpoint regardless of which provider handles the request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No provider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specific shapes leak into your codebase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33375" y="2290763"/>
            <a:ext cx="4063365" cy="62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Persistent Async Queue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Requests survive provider downtime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RabbitMQ persists jobs until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they complete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so work is delayed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not destroyed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333375" y="3148013"/>
            <a:ext cx="3812858" cy="815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Self-Hosted Microservice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just">
              <a:lnSpc>
                <a:spcPct val="1298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Deploy it once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reuse it everywhere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LLM access becomes an internal infrastructure concern 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not a per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0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project integration task</a:t>
            </a:r>
            <a:r>
              <a:rPr lang="en" sz="5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1"/>
          <p:cNvGrpSpPr/>
          <p:nvPr/>
        </p:nvGrpSpPr>
        <p:grpSpPr>
          <a:xfrm>
            <a:off x="4743450" y="964406"/>
            <a:ext cx="4057650" cy="3529013"/>
            <a:chOff x="6324600" y="1285874"/>
            <a:chExt cx="5410200" cy="4705350"/>
          </a:xfrm>
        </p:grpSpPr>
        <p:sp>
          <p:nvSpPr>
            <p:cNvPr id="117" name="Google Shape;117;p21"/>
            <p:cNvSpPr/>
            <p:nvPr/>
          </p:nvSpPr>
          <p:spPr>
            <a:xfrm>
              <a:off x="6324600" y="1285874"/>
              <a:ext cx="5410200" cy="4705350"/>
            </a:xfrm>
            <a:custGeom>
              <a:rect b="b" l="l" r="r" t="t"/>
              <a:pathLst>
                <a:path extrusionOk="0" h="4705350" w="5410200">
                  <a:moveTo>
                    <a:pt x="5410200" y="0"/>
                  </a:moveTo>
                  <a:lnTo>
                    <a:pt x="0" y="0"/>
                  </a:lnTo>
                  <a:lnTo>
                    <a:pt x="0" y="4705350"/>
                  </a:lnTo>
                  <a:lnTo>
                    <a:pt x="5410200" y="4705350"/>
                  </a:lnTo>
                  <a:lnTo>
                    <a:pt x="5410200" y="0"/>
                  </a:lnTo>
                  <a:close/>
                </a:path>
              </a:pathLst>
            </a:custGeom>
            <a:solidFill>
              <a:srgbClr val="1017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329362" y="1290637"/>
              <a:ext cx="5400675" cy="4695825"/>
            </a:xfrm>
            <a:custGeom>
              <a:rect b="b" l="l" r="r" t="t"/>
              <a:pathLst>
                <a:path extrusionOk="0" h="4695825" w="5400675">
                  <a:moveTo>
                    <a:pt x="0" y="4695825"/>
                  </a:moveTo>
                  <a:lnTo>
                    <a:pt x="5400675" y="4695825"/>
                  </a:lnTo>
                  <a:lnTo>
                    <a:pt x="5400675" y="0"/>
                  </a:lnTo>
                  <a:lnTo>
                    <a:pt x="0" y="0"/>
                  </a:lnTo>
                  <a:lnTo>
                    <a:pt x="0" y="4695825"/>
                  </a:lnTo>
                  <a:close/>
                </a:path>
              </a:pathLst>
            </a:custGeom>
            <a:noFill/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19" name="Google Shape;119;p21"/>
          <p:cNvSpPr txBox="1"/>
          <p:nvPr/>
        </p:nvSpPr>
        <p:spPr>
          <a:xfrm>
            <a:off x="6025753" y="1739503"/>
            <a:ext cx="1493044" cy="385763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Your Application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6607969" y="2185987"/>
            <a:ext cx="328613" cy="1121569"/>
          </a:xfrm>
          <a:custGeom>
            <a:rect b="b" l="l" r="r" t="t"/>
            <a:pathLst>
              <a:path extrusionOk="0" h="1495425" w="438150">
                <a:moveTo>
                  <a:pt x="19050" y="1114425"/>
                </a:moveTo>
                <a:lnTo>
                  <a:pt x="0" y="1114425"/>
                </a:lnTo>
                <a:lnTo>
                  <a:pt x="0" y="1495425"/>
                </a:lnTo>
                <a:lnTo>
                  <a:pt x="19050" y="1495425"/>
                </a:lnTo>
                <a:lnTo>
                  <a:pt x="19050" y="1114425"/>
                </a:lnTo>
                <a:close/>
              </a:path>
              <a:path extrusionOk="0" h="1495425" w="438150">
                <a:moveTo>
                  <a:pt x="228600" y="1114425"/>
                </a:moveTo>
                <a:lnTo>
                  <a:pt x="209550" y="1114425"/>
                </a:lnTo>
                <a:lnTo>
                  <a:pt x="209550" y="1495425"/>
                </a:lnTo>
                <a:lnTo>
                  <a:pt x="228600" y="1495425"/>
                </a:lnTo>
                <a:lnTo>
                  <a:pt x="228600" y="1114425"/>
                </a:lnTo>
                <a:close/>
              </a:path>
              <a:path extrusionOk="0" h="1495425" w="438150">
                <a:moveTo>
                  <a:pt x="228600" y="0"/>
                </a:moveTo>
                <a:lnTo>
                  <a:pt x="209550" y="0"/>
                </a:lnTo>
                <a:lnTo>
                  <a:pt x="209550" y="381000"/>
                </a:lnTo>
                <a:lnTo>
                  <a:pt x="228600" y="381000"/>
                </a:lnTo>
                <a:lnTo>
                  <a:pt x="228600" y="0"/>
                </a:lnTo>
                <a:close/>
              </a:path>
              <a:path extrusionOk="0" h="1495425" w="438150">
                <a:moveTo>
                  <a:pt x="438150" y="1114425"/>
                </a:moveTo>
                <a:lnTo>
                  <a:pt x="419100" y="1114425"/>
                </a:lnTo>
                <a:lnTo>
                  <a:pt x="419100" y="1495425"/>
                </a:lnTo>
                <a:lnTo>
                  <a:pt x="438150" y="1495425"/>
                </a:lnTo>
                <a:lnTo>
                  <a:pt x="438150" y="1114425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1" name="Google Shape;121;p21"/>
          <p:cNvSpPr txBox="1"/>
          <p:nvPr/>
        </p:nvSpPr>
        <p:spPr>
          <a:xfrm>
            <a:off x="5915025" y="2528888"/>
            <a:ext cx="1714500" cy="3786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LLM GATEWAY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604272" y="3368278"/>
            <a:ext cx="650081" cy="350044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Gemini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6347222" y="3368278"/>
            <a:ext cx="650081" cy="350044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Ollama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7090172" y="3368278"/>
            <a:ext cx="850106" cy="350044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OpenRouter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8677275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0" name="Google Shape;130;p22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this is built for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8162929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[SYS.GW.04]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346472" y="967978"/>
            <a:ext cx="3643313" cy="3521869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THE IDEAL USER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Backend developers and engineering teams who want a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hosted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agnostic LLM microservice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without owning retries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rate limits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and provider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specific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integration code themselves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If your team is building more than one LLM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powered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or plans to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this is your infrastructure layer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22"/>
          <p:cNvGrpSpPr/>
          <p:nvPr/>
        </p:nvGrpSpPr>
        <p:grpSpPr>
          <a:xfrm>
            <a:off x="4336256" y="964406"/>
            <a:ext cx="4464844" cy="3529013"/>
            <a:chOff x="5781675" y="1285874"/>
            <a:chExt cx="5953125" cy="4705350"/>
          </a:xfrm>
        </p:grpSpPr>
        <p:sp>
          <p:nvSpPr>
            <p:cNvPr id="134" name="Google Shape;134;p22"/>
            <p:cNvSpPr/>
            <p:nvPr/>
          </p:nvSpPr>
          <p:spPr>
            <a:xfrm>
              <a:off x="5781675" y="1285874"/>
              <a:ext cx="5953125" cy="4705350"/>
            </a:xfrm>
            <a:custGeom>
              <a:rect b="b" l="l" r="r" t="t"/>
              <a:pathLst>
                <a:path extrusionOk="0" h="4705350" w="5953125">
                  <a:moveTo>
                    <a:pt x="5953125" y="0"/>
                  </a:moveTo>
                  <a:lnTo>
                    <a:pt x="0" y="0"/>
                  </a:lnTo>
                  <a:lnTo>
                    <a:pt x="0" y="4705350"/>
                  </a:lnTo>
                  <a:lnTo>
                    <a:pt x="5953125" y="4705350"/>
                  </a:lnTo>
                  <a:lnTo>
                    <a:pt x="5953125" y="0"/>
                  </a:lnTo>
                  <a:close/>
                </a:path>
              </a:pathLst>
            </a:custGeom>
            <a:solidFill>
              <a:srgbClr val="1017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6096000" y="1981199"/>
              <a:ext cx="9525" cy="3162300"/>
            </a:xfrm>
            <a:custGeom>
              <a:rect b="b" l="l" r="r" t="t"/>
              <a:pathLst>
                <a:path extrusionOk="0" h="3162300" w="9525">
                  <a:moveTo>
                    <a:pt x="9525" y="0"/>
                  </a:moveTo>
                  <a:lnTo>
                    <a:pt x="0" y="0"/>
                  </a:lnTo>
                  <a:lnTo>
                    <a:pt x="0" y="3162300"/>
                  </a:lnTo>
                  <a:lnTo>
                    <a:pt x="9525" y="31623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6372225" y="1981199"/>
              <a:ext cx="19050" cy="3009900"/>
            </a:xfrm>
            <a:custGeom>
              <a:rect b="b" l="l" r="r" t="t"/>
              <a:pathLst>
                <a:path extrusionOk="0" h="3009900" w="19050">
                  <a:moveTo>
                    <a:pt x="19050" y="2619375"/>
                  </a:moveTo>
                  <a:lnTo>
                    <a:pt x="0" y="2619375"/>
                  </a:lnTo>
                  <a:lnTo>
                    <a:pt x="0" y="3009900"/>
                  </a:lnTo>
                  <a:lnTo>
                    <a:pt x="19050" y="3009900"/>
                  </a:lnTo>
                  <a:lnTo>
                    <a:pt x="19050" y="2619375"/>
                  </a:lnTo>
                  <a:close/>
                </a:path>
                <a:path extrusionOk="0" h="3009900" w="19050">
                  <a:moveTo>
                    <a:pt x="19050" y="1857375"/>
                  </a:moveTo>
                  <a:lnTo>
                    <a:pt x="0" y="1857375"/>
                  </a:lnTo>
                  <a:lnTo>
                    <a:pt x="0" y="2466975"/>
                  </a:lnTo>
                  <a:lnTo>
                    <a:pt x="19050" y="2466975"/>
                  </a:lnTo>
                  <a:lnTo>
                    <a:pt x="19050" y="1857375"/>
                  </a:lnTo>
                  <a:close/>
                </a:path>
                <a:path extrusionOk="0" h="3009900" w="19050">
                  <a:moveTo>
                    <a:pt x="19050" y="1085850"/>
                  </a:moveTo>
                  <a:lnTo>
                    <a:pt x="0" y="1085850"/>
                  </a:lnTo>
                  <a:lnTo>
                    <a:pt x="0" y="1704975"/>
                  </a:lnTo>
                  <a:lnTo>
                    <a:pt x="19050" y="1704975"/>
                  </a:lnTo>
                  <a:lnTo>
                    <a:pt x="19050" y="1085850"/>
                  </a:lnTo>
                  <a:close/>
                </a:path>
                <a:path extrusionOk="0" h="3009900" w="19050">
                  <a:moveTo>
                    <a:pt x="19050" y="542925"/>
                  </a:moveTo>
                  <a:lnTo>
                    <a:pt x="0" y="542925"/>
                  </a:lnTo>
                  <a:lnTo>
                    <a:pt x="0" y="933450"/>
                  </a:lnTo>
                  <a:lnTo>
                    <a:pt x="19050" y="933450"/>
                  </a:lnTo>
                  <a:lnTo>
                    <a:pt x="19050" y="542925"/>
                  </a:lnTo>
                  <a:close/>
                </a:path>
                <a:path extrusionOk="0" h="3009900" w="19050">
                  <a:moveTo>
                    <a:pt x="19050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19050" y="3905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FB8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37" name="Google Shape;137;p22"/>
          <p:cNvSpPr txBox="1"/>
          <p:nvPr/>
        </p:nvSpPr>
        <p:spPr>
          <a:xfrm>
            <a:off x="4339828" y="967978"/>
            <a:ext cx="4457700" cy="3521869"/>
          </a:xfrm>
          <a:prstGeom prst="rect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YOU’ LL  RECOGNIZE  YOURSELF  IF…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ve rewritten LLM integration code across multiple projects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Provider downtime has silently broken your application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re managing multiple API keys and rate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limit strategies by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hand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You want to switch models or providers without touching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application code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You need a single observability point for all LLM traffic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8677279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3" name="Google Shape;143;p23"/>
          <p:cNvSpPr txBox="1"/>
          <p:nvPr>
            <p:ph type="title"/>
          </p:nvPr>
        </p:nvSpPr>
        <p:spPr>
          <a:xfrm>
            <a:off x="333375" y="328417"/>
            <a:ext cx="4444841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96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execution modes  one routing core</a:t>
            </a:r>
            <a:endParaRPr/>
          </a:p>
          <a:p>
            <a:pPr indent="0" lvl="0" marL="533400" rtl="0" algn="ctr">
              <a:lnSpc>
                <a:spcPct val="3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,</a:t>
            </a:r>
            <a:endParaRPr sz="500"/>
          </a:p>
        </p:txBody>
      </p:sp>
      <p:sp>
        <p:nvSpPr>
          <p:cNvPr id="144" name="Google Shape;144;p23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[SYS.GW.05]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5" name="Google Shape;145;p23"/>
          <p:cNvGrpSpPr/>
          <p:nvPr/>
        </p:nvGrpSpPr>
        <p:grpSpPr>
          <a:xfrm>
            <a:off x="342900" y="850106"/>
            <a:ext cx="4143375" cy="3643313"/>
            <a:chOff x="457200" y="1133474"/>
            <a:chExt cx="5524500" cy="4857750"/>
          </a:xfrm>
        </p:grpSpPr>
        <p:sp>
          <p:nvSpPr>
            <p:cNvPr id="146" name="Google Shape;146;p23"/>
            <p:cNvSpPr/>
            <p:nvPr/>
          </p:nvSpPr>
          <p:spPr>
            <a:xfrm>
              <a:off x="457200" y="1133474"/>
              <a:ext cx="5524500" cy="4857750"/>
            </a:xfrm>
            <a:custGeom>
              <a:rect b="b" l="l" r="r" t="t"/>
              <a:pathLst>
                <a:path extrusionOk="0" h="4857750" w="5524500">
                  <a:moveTo>
                    <a:pt x="5524500" y="0"/>
                  </a:moveTo>
                  <a:lnTo>
                    <a:pt x="0" y="0"/>
                  </a:lnTo>
                  <a:lnTo>
                    <a:pt x="0" y="4857750"/>
                  </a:lnTo>
                  <a:lnTo>
                    <a:pt x="5524500" y="4857750"/>
                  </a:lnTo>
                  <a:lnTo>
                    <a:pt x="5524500" y="0"/>
                  </a:lnTo>
                  <a:close/>
                </a:path>
              </a:pathLst>
            </a:custGeom>
            <a:solidFill>
              <a:srgbClr val="1017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461962" y="1138237"/>
              <a:ext cx="5514975" cy="4848225"/>
            </a:xfrm>
            <a:custGeom>
              <a:rect b="b" l="l" r="r" t="t"/>
              <a:pathLst>
                <a:path extrusionOk="0" h="4848225" w="5514975">
                  <a:moveTo>
                    <a:pt x="0" y="4848225"/>
                  </a:moveTo>
                  <a:lnTo>
                    <a:pt x="5514975" y="4848225"/>
                  </a:lnTo>
                  <a:lnTo>
                    <a:pt x="5514975" y="0"/>
                  </a:lnTo>
                  <a:lnTo>
                    <a:pt x="0" y="0"/>
                  </a:lnTo>
                  <a:lnTo>
                    <a:pt x="0" y="4848225"/>
                  </a:lnTo>
                  <a:close/>
                </a:path>
              </a:pathLst>
            </a:custGeom>
            <a:noFill/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695325" y="1685924"/>
              <a:ext cx="5048250" cy="9525"/>
            </a:xfrm>
            <a:custGeom>
              <a:rect b="b" l="l" r="r" t="t"/>
              <a:pathLst>
                <a:path extrusionOk="0" h="9525" w="5048250">
                  <a:moveTo>
                    <a:pt x="50482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48250" y="9525"/>
                  </a:lnTo>
                  <a:lnTo>
                    <a:pt x="5048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49" name="Google Shape;149;p23"/>
          <p:cNvSpPr txBox="1"/>
          <p:nvPr/>
        </p:nvSpPr>
        <p:spPr>
          <a:xfrm>
            <a:off x="521494" y="1019175"/>
            <a:ext cx="2149793" cy="214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SYNC: Low-latency, interactive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POST /api/sync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Blocking request with messages &amp; params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2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Pydantic Validation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Schema enforcement &amp; type coercion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3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Router &amp; Adapter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Translate params to provider-specific shape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4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Provider SDK Call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Direct call to Gemini/Ollama/OpenRouter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5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I mmediate Response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Returns 200 OK with generated content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23"/>
          <p:cNvGrpSpPr/>
          <p:nvPr/>
        </p:nvGrpSpPr>
        <p:grpSpPr>
          <a:xfrm>
            <a:off x="4657725" y="850106"/>
            <a:ext cx="4143375" cy="3643313"/>
            <a:chOff x="6210300" y="1133474"/>
            <a:chExt cx="5524500" cy="4857750"/>
          </a:xfrm>
        </p:grpSpPr>
        <p:sp>
          <p:nvSpPr>
            <p:cNvPr id="151" name="Google Shape;151;p23"/>
            <p:cNvSpPr/>
            <p:nvPr/>
          </p:nvSpPr>
          <p:spPr>
            <a:xfrm>
              <a:off x="6210300" y="1133474"/>
              <a:ext cx="5524500" cy="4857750"/>
            </a:xfrm>
            <a:custGeom>
              <a:rect b="b" l="l" r="r" t="t"/>
              <a:pathLst>
                <a:path extrusionOk="0" h="4857750" w="5524500">
                  <a:moveTo>
                    <a:pt x="5524500" y="0"/>
                  </a:moveTo>
                  <a:lnTo>
                    <a:pt x="0" y="0"/>
                  </a:lnTo>
                  <a:lnTo>
                    <a:pt x="0" y="4857750"/>
                  </a:lnTo>
                  <a:lnTo>
                    <a:pt x="5524500" y="4857750"/>
                  </a:lnTo>
                  <a:lnTo>
                    <a:pt x="5524500" y="0"/>
                  </a:lnTo>
                  <a:close/>
                </a:path>
              </a:pathLst>
            </a:custGeom>
            <a:solidFill>
              <a:srgbClr val="10172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6215062" y="1138237"/>
              <a:ext cx="5514975" cy="4848225"/>
            </a:xfrm>
            <a:custGeom>
              <a:rect b="b" l="l" r="r" t="t"/>
              <a:pathLst>
                <a:path extrusionOk="0" h="4848225" w="5514975">
                  <a:moveTo>
                    <a:pt x="0" y="4848225"/>
                  </a:moveTo>
                  <a:lnTo>
                    <a:pt x="5514975" y="4848225"/>
                  </a:lnTo>
                  <a:lnTo>
                    <a:pt x="5514975" y="0"/>
                  </a:lnTo>
                  <a:lnTo>
                    <a:pt x="0" y="0"/>
                  </a:lnTo>
                  <a:lnTo>
                    <a:pt x="0" y="4848225"/>
                  </a:lnTo>
                  <a:close/>
                </a:path>
              </a:pathLst>
            </a:custGeom>
            <a:noFill/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6448425" y="1685924"/>
              <a:ext cx="5048250" cy="9525"/>
            </a:xfrm>
            <a:custGeom>
              <a:rect b="b" l="l" r="r" t="t"/>
              <a:pathLst>
                <a:path extrusionOk="0" h="9525" w="5048250">
                  <a:moveTo>
                    <a:pt x="50482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48250" y="9525"/>
                  </a:lnTo>
                  <a:lnTo>
                    <a:pt x="5048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54" name="Google Shape;154;p23"/>
          <p:cNvSpPr txBox="1"/>
          <p:nvPr/>
        </p:nvSpPr>
        <p:spPr>
          <a:xfrm>
            <a:off x="4836319" y="1019175"/>
            <a:ext cx="1795463" cy="214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ASYNC: Resilient, durable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POST /api/async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Non-blocking request, returns Job ID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2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RabbitMQ Producer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Job persisted in ' tasks' durable queue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3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Worker Consumer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Independent process picks up job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4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Result Storage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"/>
              <a:buFont typeface="Courier New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Outcome saved to SQLite result store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AutoNum type="arabicPlain" startAt="5"/>
            </a:pPr>
            <a:r>
              <a:rPr lang="en" sz="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GET /{job_id}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Client polls for completed result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8677275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0" name="Google Shape;160;p24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stack is intentionally boring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[SYS.GW.0G]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62" name="Google Shape;162;p24"/>
          <p:cNvGraphicFramePr/>
          <p:nvPr/>
        </p:nvGraphicFramePr>
        <p:xfrm>
          <a:off x="342900" y="1096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{0C4BB42D-FEF7-4D36-B3EB-F2AEE43EDC95}</a:tableStyleId>
              </a:tblPr>
              <a:tblGrid>
                <a:gridCol w="1673050"/>
                <a:gridCol w="2127400"/>
                <a:gridCol w="1750675"/>
                <a:gridCol w="2907500"/>
              </a:tblGrid>
              <a:tr h="249550"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7C3AE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58800" marR="0" rtl="0" algn="l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7C3AE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Technology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7400" marR="0" rtl="0" algn="l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7C3AE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F3F4F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API Framework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558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F3F4F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FastAPI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87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9BA2A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 handling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9BA2A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 OpenAPI docs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F3F4F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Validation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558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F3F4F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Pydantic v2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87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9BA2A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Strict schema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9BA2A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enforcement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F3F4F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Message Broker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558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F3F4F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RabbitMQ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87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9BA2A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Durable async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>
                          <a:solidFill>
                            <a:srgbClr val="9BA2A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job queue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7625" marB="0" marR="0" marL="0">
                    <a:lnT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63" name="Google Shape;163;p24"/>
          <p:cNvSpPr/>
          <p:nvPr/>
        </p:nvSpPr>
        <p:spPr>
          <a:xfrm>
            <a:off x="342900" y="3228975"/>
            <a:ext cx="8458200" cy="7144"/>
          </a:xfrm>
          <a:custGeom>
            <a:rect b="b" l="l" r="r" t="t"/>
            <a:pathLst>
              <a:path extrusionOk="0" h="9525" w="11277600">
                <a:moveTo>
                  <a:pt x="11277600" y="0"/>
                </a:moveTo>
                <a:lnTo>
                  <a:pt x="5962650" y="0"/>
                </a:lnTo>
                <a:lnTo>
                  <a:pt x="2828925" y="0"/>
                </a:lnTo>
                <a:lnTo>
                  <a:pt x="0" y="0"/>
                </a:lnTo>
                <a:lnTo>
                  <a:pt x="0" y="9525"/>
                </a:lnTo>
                <a:lnTo>
                  <a:pt x="2828925" y="9525"/>
                </a:lnTo>
                <a:lnTo>
                  <a:pt x="5962650" y="9525"/>
                </a:lnTo>
                <a:lnTo>
                  <a:pt x="11277600" y="9525"/>
                </a:lnTo>
                <a:lnTo>
                  <a:pt x="11277600" y="0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4" name="Google Shape;164;p24"/>
          <p:cNvSpPr txBox="1"/>
          <p:nvPr/>
        </p:nvSpPr>
        <p:spPr>
          <a:xfrm>
            <a:off x="447675" y="3462338"/>
            <a:ext cx="873442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Result Store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2568025" y="3457929"/>
            <a:ext cx="12277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SQLite </a:t>
            </a:r>
            <a:r>
              <a:rPr lang="en" sz="5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+  </a:t>
            </a: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SQLModel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4921339" y="3462338"/>
            <a:ext cx="1659255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Persistent job tracking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342900" y="3857625"/>
            <a:ext cx="8458200" cy="7144"/>
          </a:xfrm>
          <a:custGeom>
            <a:rect b="b" l="l" r="r" t="t"/>
            <a:pathLst>
              <a:path extrusionOk="0" h="9525" w="11277600">
                <a:moveTo>
                  <a:pt x="11277600" y="0"/>
                </a:moveTo>
                <a:lnTo>
                  <a:pt x="5962650" y="0"/>
                </a:lnTo>
                <a:lnTo>
                  <a:pt x="2828925" y="0"/>
                </a:lnTo>
                <a:lnTo>
                  <a:pt x="0" y="0"/>
                </a:lnTo>
                <a:lnTo>
                  <a:pt x="0" y="9525"/>
                </a:lnTo>
                <a:lnTo>
                  <a:pt x="2828925" y="9525"/>
                </a:lnTo>
                <a:lnTo>
                  <a:pt x="5962650" y="9525"/>
                </a:lnTo>
                <a:lnTo>
                  <a:pt x="11277600" y="9525"/>
                </a:lnTo>
                <a:lnTo>
                  <a:pt x="11277600" y="0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8" name="Google Shape;168;p24"/>
          <p:cNvSpPr txBox="1"/>
          <p:nvPr/>
        </p:nvSpPr>
        <p:spPr>
          <a:xfrm>
            <a:off x="447675" y="4090988"/>
            <a:ext cx="1087755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Package Manager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568025" y="4086579"/>
            <a:ext cx="1609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uv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921339" y="4090988"/>
            <a:ext cx="2230755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Fast, reproducible environments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342900" y="4486275"/>
            <a:ext cx="8458200" cy="7144"/>
          </a:xfrm>
          <a:custGeom>
            <a:rect b="b" l="l" r="r" t="t"/>
            <a:pathLst>
              <a:path extrusionOk="0" h="9525" w="11277600">
                <a:moveTo>
                  <a:pt x="11277600" y="0"/>
                </a:moveTo>
                <a:lnTo>
                  <a:pt x="5962650" y="0"/>
                </a:lnTo>
                <a:lnTo>
                  <a:pt x="2828925" y="0"/>
                </a:lnTo>
                <a:lnTo>
                  <a:pt x="0" y="0"/>
                </a:lnTo>
                <a:lnTo>
                  <a:pt x="0" y="9525"/>
                </a:lnTo>
                <a:lnTo>
                  <a:pt x="2828925" y="9525"/>
                </a:lnTo>
                <a:lnTo>
                  <a:pt x="5962650" y="9525"/>
                </a:lnTo>
                <a:lnTo>
                  <a:pt x="11277600" y="9525"/>
                </a:lnTo>
                <a:lnTo>
                  <a:pt x="11277600" y="0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2" name="Google Shape;172;p24"/>
          <p:cNvSpPr txBox="1"/>
          <p:nvPr/>
        </p:nvSpPr>
        <p:spPr>
          <a:xfrm>
            <a:off x="8677275" y="4655344"/>
            <a:ext cx="13620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0G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7" name="Google Shape;177;p25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canonical contract keeps clients stable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[SYS.GW.07]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342900" y="850106"/>
            <a:ext cx="14288" cy="300038"/>
          </a:xfrm>
          <a:custGeom>
            <a:rect b="b" l="l" r="r" t="t"/>
            <a:pathLst>
              <a:path extrusionOk="0" h="400050" w="19050">
                <a:moveTo>
                  <a:pt x="19050" y="0"/>
                </a:moveTo>
                <a:lnTo>
                  <a:pt x="0" y="0"/>
                </a:lnTo>
                <a:lnTo>
                  <a:pt x="0" y="400050"/>
                </a:lnTo>
                <a:lnTo>
                  <a:pt x="19050" y="400050"/>
                </a:lnTo>
                <a:lnTo>
                  <a:pt x="1905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0" name="Google Shape;180;p25"/>
          <p:cNvSpPr/>
          <p:nvPr/>
        </p:nvSpPr>
        <p:spPr>
          <a:xfrm>
            <a:off x="342900" y="1321594"/>
            <a:ext cx="14288" cy="300038"/>
          </a:xfrm>
          <a:custGeom>
            <a:rect b="b" l="l" r="r" t="t"/>
            <a:pathLst>
              <a:path extrusionOk="0" h="400050" w="19050">
                <a:moveTo>
                  <a:pt x="19050" y="0"/>
                </a:moveTo>
                <a:lnTo>
                  <a:pt x="0" y="0"/>
                </a:lnTo>
                <a:lnTo>
                  <a:pt x="0" y="400050"/>
                </a:lnTo>
                <a:lnTo>
                  <a:pt x="19050" y="400050"/>
                </a:lnTo>
                <a:lnTo>
                  <a:pt x="1905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1" name="Google Shape;181;p25"/>
          <p:cNvSpPr/>
          <p:nvPr/>
        </p:nvSpPr>
        <p:spPr>
          <a:xfrm>
            <a:off x="342900" y="1793081"/>
            <a:ext cx="14288" cy="300038"/>
          </a:xfrm>
          <a:custGeom>
            <a:rect b="b" l="l" r="r" t="t"/>
            <a:pathLst>
              <a:path extrusionOk="0" h="400050" w="19050">
                <a:moveTo>
                  <a:pt x="19050" y="0"/>
                </a:moveTo>
                <a:lnTo>
                  <a:pt x="0" y="0"/>
                </a:lnTo>
                <a:lnTo>
                  <a:pt x="0" y="400050"/>
                </a:lnTo>
                <a:lnTo>
                  <a:pt x="19050" y="400050"/>
                </a:lnTo>
                <a:lnTo>
                  <a:pt x="1905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2" name="Google Shape;182;p25"/>
          <p:cNvSpPr/>
          <p:nvPr/>
        </p:nvSpPr>
        <p:spPr>
          <a:xfrm>
            <a:off x="342900" y="2264569"/>
            <a:ext cx="14288" cy="300038"/>
          </a:xfrm>
          <a:custGeom>
            <a:rect b="b" l="l" r="r" t="t"/>
            <a:pathLst>
              <a:path extrusionOk="0" h="400050" w="19050">
                <a:moveTo>
                  <a:pt x="19050" y="0"/>
                </a:moveTo>
                <a:lnTo>
                  <a:pt x="0" y="0"/>
                </a:lnTo>
                <a:lnTo>
                  <a:pt x="0" y="400050"/>
                </a:lnTo>
                <a:lnTo>
                  <a:pt x="19050" y="400050"/>
                </a:lnTo>
                <a:lnTo>
                  <a:pt x="1905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3" name="Google Shape;183;p25"/>
          <p:cNvSpPr txBox="1"/>
          <p:nvPr/>
        </p:nvSpPr>
        <p:spPr>
          <a:xfrm>
            <a:off x="461962" y="788743"/>
            <a:ext cx="2784634" cy="1783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200 OK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Request fulfilled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Check 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warning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flag for dropped params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422 Unprocessable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Pydantic validation error 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malformed request body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429 Rate Limit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Upstream provider limit hit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Gateway can route around this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502 Provider Failure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Upstream provider is down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Async jobs will persist</a:t>
            </a:r>
            <a:r>
              <a:rPr lang="en" sz="6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4318397" y="853678"/>
            <a:ext cx="4479131" cy="3636169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CANONICAL REQUEST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501900" rtl="0" algn="l">
              <a:lnSpc>
                <a:spcPct val="11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"provider"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"gemini"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"model"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"gemini-2.5-flash"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"messages"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6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"role"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"content"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"..." 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"parameters"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6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"temperature"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0.7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6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"max_tokens"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SYNC RESPONSE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3162300" rtl="0" algn="l">
              <a:lnSpc>
                <a:spcPct val="11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"code"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"warning"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"message"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6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"role"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"assistant"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6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"content"</a:t>
            </a: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"..."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78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8677275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0" name="Google Shape;190;p26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commitments shape every decision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[SYS.GW.08]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346472" y="967978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Provider-Agnostic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660400" rtl="0" algn="l">
              <a:lnSpc>
                <a:spcPct val="1386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Clients interact with one stable contract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never a specific provider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 API shape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Switching providers is a configuration change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not a code change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4661297" y="967978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Best-Effort Execution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457200" rtl="0" algn="just">
              <a:lnSpc>
                <a:spcPct val="1386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The gateway favors generating a response over failing outright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Non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essential constraints are handled transparently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the caller always knows what happened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346472" y="2818209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Stable External Contract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Adding a new provider never requires clients to update their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The gateway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 API is the only contract your team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maintains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4661297" y="2818209"/>
            <a:ext cx="4136231" cy="1671638"/>
          </a:xfrm>
          <a:prstGeom prst="rect">
            <a:avLst/>
          </a:prstGeom>
          <a:solidFill>
            <a:srgbClr val="101726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Status Separation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HTTP status codes reflect gateway outcomes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 separate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level result field describes what actually happened with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the LLM request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8677275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1" name="Google Shape;201;p27"/>
          <p:cNvSpPr txBox="1"/>
          <p:nvPr>
            <p:ph type="title"/>
          </p:nvPr>
        </p:nvSpPr>
        <p:spPr>
          <a:xfrm>
            <a:off x="333375" y="328233"/>
            <a:ext cx="4659154" cy="291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teams actually gain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8162923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[SYS.GW.09]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10728" y="2124950"/>
            <a:ext cx="2449353" cy="132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50">
            <a:sp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API Contract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One canonical interface for all providers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maintained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once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3522945" y="2196387"/>
            <a:ext cx="2091690" cy="1176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50">
            <a:sp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3+</a:t>
            </a:r>
            <a:endParaRPr sz="4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Providers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OpenRouter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Ollama 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and growing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6328095" y="2196387"/>
            <a:ext cx="2348865" cy="1176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4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4F1"/>
                </a:solidFill>
                <a:latin typeface="Courier New"/>
                <a:ea typeface="Courier New"/>
                <a:cs typeface="Courier New"/>
                <a:sym typeface="Courier New"/>
              </a:rPr>
              <a:t>Lost Requests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Async queue persists through provider downtime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8677273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1" name="Google Shape;211;p28"/>
          <p:cNvSpPr txBox="1"/>
          <p:nvPr>
            <p:ph type="title"/>
          </p:nvPr>
        </p:nvSpPr>
        <p:spPr>
          <a:xfrm>
            <a:off x="333375" y="328417"/>
            <a:ext cx="601980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r>
              <a:rPr lang="en" sz="900"/>
              <a:t>:</a:t>
            </a:r>
            <a:endParaRPr sz="900"/>
          </a:p>
        </p:txBody>
      </p:sp>
      <p:sp>
        <p:nvSpPr>
          <p:cNvPr id="212" name="Google Shape;212;p28"/>
          <p:cNvSpPr txBox="1"/>
          <p:nvPr/>
        </p:nvSpPr>
        <p:spPr>
          <a:xfrm>
            <a:off x="990600" y="328417"/>
            <a:ext cx="3158966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3F4F1"/>
                </a:solidFill>
                <a:latin typeface="Arial"/>
                <a:ea typeface="Arial"/>
                <a:cs typeface="Arial"/>
                <a:sym typeface="Arial"/>
              </a:rPr>
              <a:t>make resilience measurable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8162925" y="333375"/>
            <a:ext cx="650557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[SYS.GW.10]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1085850" y="2257425"/>
            <a:ext cx="85725" cy="85725"/>
          </a:xfrm>
          <a:custGeom>
            <a:rect b="b" l="l" r="r" t="t"/>
            <a:pathLst>
              <a:path extrusionOk="0" h="114300" w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5" name="Google Shape;215;p28"/>
          <p:cNvSpPr/>
          <p:nvPr/>
        </p:nvSpPr>
        <p:spPr>
          <a:xfrm>
            <a:off x="3378994" y="2257425"/>
            <a:ext cx="85725" cy="85725"/>
          </a:xfrm>
          <a:custGeom>
            <a:rect b="b" l="l" r="r" t="t"/>
            <a:pathLst>
              <a:path extrusionOk="0" h="114300" w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6" name="Google Shape;216;p28"/>
          <p:cNvSpPr/>
          <p:nvPr/>
        </p:nvSpPr>
        <p:spPr>
          <a:xfrm>
            <a:off x="5679281" y="2257425"/>
            <a:ext cx="85725" cy="85725"/>
          </a:xfrm>
          <a:custGeom>
            <a:rect b="b" l="l" r="r" t="t"/>
            <a:pathLst>
              <a:path extrusionOk="0" h="114300" w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7" name="Google Shape;217;p28"/>
          <p:cNvSpPr/>
          <p:nvPr/>
        </p:nvSpPr>
        <p:spPr>
          <a:xfrm>
            <a:off x="7972425" y="2257425"/>
            <a:ext cx="85725" cy="85725"/>
          </a:xfrm>
          <a:custGeom>
            <a:rect b="b" l="l" r="r" t="t"/>
            <a:pathLst>
              <a:path extrusionOk="0" h="114300" w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8" name="Google Shape;218;p28"/>
          <p:cNvSpPr txBox="1"/>
          <p:nvPr/>
        </p:nvSpPr>
        <p:spPr>
          <a:xfrm>
            <a:off x="690563" y="2505075"/>
            <a:ext cx="873442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Job Tracking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2843174" y="2505075"/>
            <a:ext cx="1159192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Failure Handling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5138661" y="2505075"/>
            <a:ext cx="1159193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Horizontal Scale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7362710" y="2505075"/>
            <a:ext cx="1302067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FB880"/>
                </a:solidFill>
                <a:latin typeface="Courier New"/>
                <a:ea typeface="Courier New"/>
                <a:cs typeface="Courier New"/>
                <a:sym typeface="Courier New"/>
              </a:rPr>
              <a:t>Throughput Pooling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342900" y="2728913"/>
            <a:ext cx="8458200" cy="14288"/>
          </a:xfrm>
          <a:custGeom>
            <a:rect b="b" l="l" r="r" t="t"/>
            <a:pathLst>
              <a:path extrusionOk="0" h="19050" w="11277600">
                <a:moveTo>
                  <a:pt x="11277600" y="0"/>
                </a:moveTo>
                <a:lnTo>
                  <a:pt x="0" y="0"/>
                </a:lnTo>
                <a:lnTo>
                  <a:pt x="0" y="19050"/>
                </a:lnTo>
                <a:lnTo>
                  <a:pt x="11277600" y="19050"/>
                </a:lnTo>
                <a:lnTo>
                  <a:pt x="11277600" y="0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361950" y="2724585"/>
            <a:ext cx="1536382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Structured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queryable job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records with full status and error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2643149" y="2724585"/>
            <a:ext cx="15559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Distinct handling for timeouts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rate limits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and provider outages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4956495" y="2724585"/>
            <a:ext cx="1529239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API and worker layers scale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independently with per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queuing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7298417" y="2724585"/>
            <a:ext cx="1436370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0" rtl="0" algn="ctr">
              <a:lnSpc>
                <a:spcPct val="13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Route across a pool of keys to maximize combined rate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8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limit headroom</a:t>
            </a:r>
            <a:r>
              <a:rPr lang="en" sz="400">
                <a:solidFill>
                  <a:srgbClr val="9BA2A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8677275" y="4656344"/>
            <a:ext cx="136207" cy="15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BA2AE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